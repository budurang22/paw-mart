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4023360" cy="2286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286000"/>
            <a:ext cx="4023360" cy="2286000"/>
          </a:xfrm>
          <a:prstGeom prst="rect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4572000"/>
            <a:ext cx="4023360" cy="228600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PAWMART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반려동물과 보호자를 위한 큐레이션 마켓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Premium Pet E-Commerce Experience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Frontend &amp; 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5월 · 풀스택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Pawmart를 만들었나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펫 시장은 빠르게 커지지만, 보호자가 겪는 불편은 그대로다.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E0785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6.2조 원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한국 펫 산업 규모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 대비 +9% · 출처: 농촌경제연구원 추정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46888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468880"/>
            <a:ext cx="4572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606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6334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정보가 흩어져 있다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3017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카탈로그·블로그·SNS 곳곳을 뒤져야 우리 아이에게 맞는 제품을 찾을 수 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370332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3703320"/>
            <a:ext cx="4572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840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38679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추천이 부족하다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4251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품종·연령·체중·건강 상태에 따라 다른데, 일률적인 베스트셀러만 추천된다.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493776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4937760"/>
            <a:ext cx="4572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5074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63640" y="51023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재구매가 번거롭다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5486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사료·모래는 매번 똑같이 검색해서 다시 산다. 정기배송 옵션이 없다.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누구를 위한 서비스인가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타겟 페르소나 — 양육 5년차 직장인 보호자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743200"/>
            <a:ext cx="1280160" cy="1280160"/>
          </a:xfrm>
          <a:prstGeom prst="ellipse">
            <a:avLst/>
          </a:prstGeom>
          <a:solidFill>
            <a:srgbClr val="FFE3D6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37744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김지영 (32)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회사 · 강아지 보호자 5년차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푸들 ‘콩이’ (5살, 5.2kg)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월 펫 지출 12~18만원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모바일 70% / 데스크톱 30%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468880"/>
            <a:ext cx="6126480" cy="3657600"/>
          </a:xfrm>
          <a:prstGeom prst="roundRect">
            <a:avLst>
              <a:gd name="adj" fmla="val 3000"/>
            </a:avLst>
          </a:prstGeom>
          <a:solidFill>
            <a:srgbClr val="E5EFD7"/>
          </a:solidFill>
          <a:ln w="6350">
            <a:solidFill>
              <a:srgbClr val="88A8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5852160" y="338328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콩이는 알러지가 있어서 사료를 신중하게 골라야 해요. 사료가 떨어질 때마다 처음부터 다시 검색하는 게 너무 번거로워요. 한 번에 정리된 정보를 보고 싶고, 매달 알아서 배송됐으면 좋겠어요.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5394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김지영 님 · 인터뷰 발췌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Pawmart의 5가지 차별화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카탈로그가 아닌, 보호자의 일상에 맞춘 큐레이션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60320"/>
            <a:ext cx="45720" cy="3383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Friendly 디자인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· Cream · Sage 펫 도메인 정체성 살린 디자인 시스템 (디자인 토큰 기반)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256032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2560320"/>
            <a:ext cx="45720" cy="338328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06324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추천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63240" y="4251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종·연령·체중·건강 상태 → 영양·간식·생활용품을 30초 큐레이션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56032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560320"/>
            <a:ext cx="45720" cy="3383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39496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정기배송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4251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설정하면 매달 자동 배송 + 상시 10% 할인. 언제든 해지·변경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43800" y="256032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2560320"/>
            <a:ext cx="45720" cy="338328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72668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 가이드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26680" y="4251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입양·영양·환절기 등 전문가 검증 가이드 + 관련 상품 연결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75520" y="2560320"/>
            <a:ext cx="219456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2560320"/>
            <a:ext cx="45720" cy="3383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005840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대시보드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0" y="4251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상태 분포, 재고 인라인 수정, 매출 통계까지 한 화면에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사용자 기능 맵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회원이 사용할 수 있는 24개 페이지 · 10개 도메인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· 로그인 · 카카오/네이버 SSO 진입점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기반 세션 + 자동 갱신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10712" y="24688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42232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카탈로그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39312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디바운스 검색 · 다중 필터 · 정렬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페이징 / 펫·카테고리·뱃지·가격대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2784" y="24688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1384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04304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상세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01384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갤러리 · 효능 배지 · 리뷰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상품 자동 추천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34856" y="24688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63456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63456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66376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장바구니/위시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63456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동시성 안전 · 수량 조정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위시리스트 · 일괄 처리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· 결제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주소록 관리 · Toss Payments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성공/실패/취소 분기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10712" y="4480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9312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42232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39312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내역 · 펫 프로필 등록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수정 · 회원 탈퇴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72784" y="4480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01384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01384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04304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01384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 후기 (다중 이미지 업로드)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 · 도움된 수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34856" y="448056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63456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63456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866376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 가이드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363456" y="5257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에디토리얼 콘텐츠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태그·펫타입 필터링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관리자 기능 맵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가드로 보호된 6개 관리자 페이지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7157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4종 (매출·주문·회원·상품)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상태 분포 바 시각화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필요 알림 + 빠른 액션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0832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246888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48072" y="27157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관리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9432" y="3246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결제완료→배송완료 상태 전이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상세 모달 (수령인·상품)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필터 + 페이징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93024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246888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1624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70264" y="27157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관리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21624" y="3246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· 페이징 · CRUD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뱃지 · 카테고리 · 펫타입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 통합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8056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47274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52578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단독 페이지 폼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ImageUploader 통합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검증 + 에러 처리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70832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448056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48072" y="47274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관리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99432" y="52578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부족(≤10) · 품절 필터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인라인 수정 + 되돌리기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낙관적 동시성 제어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93024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93024" y="448056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21624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70264" y="47274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관리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21624" y="52578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회원 페이징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/ 상태 표시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가입일 정렬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안정 버전 위주 · 한국 시장 친화 (Pretendard, Toss)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45720" cy="402336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실행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" y="3520440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" y="3813048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21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5.6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" y="4105656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" y="4398264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3068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" y="4690872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99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latest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" y="4983480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892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상태 관리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" y="5276088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184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HTTP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" y="5568696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4772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아이콘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" y="5861304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7698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Pretendard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한글 폰트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" y="6153912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6062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SDK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결제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0832" y="2468880"/>
            <a:ext cx="45720" cy="402336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99432" y="3063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기반 REST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3520440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3813048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2312" y="3721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21 (LTS)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17720" y="4105656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JWT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4398264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82312" y="43068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Hibernate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17720" y="4690872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4599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17720" y="4983480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82312" y="4892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마이그레이션 12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17720" y="5276088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5184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암호화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17720" y="5568696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82312" y="54772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보일러플레이트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17720" y="5861304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82312" y="57698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Payments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PG 통합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17720" y="6153912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82312" y="6062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통합 테스트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193024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93024" y="2468880"/>
            <a:ext cx="45720" cy="4023360"/>
          </a:xfrm>
          <a:prstGeom prst="rect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21624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 · Tools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8421624" y="3063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/ 빌드 / 협업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39912" y="3520440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04504" y="3429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버전관리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439912" y="3813048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04504" y="3721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 (Kotlin DSL)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439912" y="4105656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04504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flat config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439912" y="4398264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04504" y="43068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포맷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439912" y="4690872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04504" y="4599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패키지 매니저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439912" y="4983480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04504" y="4892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가이드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코드 원칙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439912" y="5276088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04504" y="5184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페어 프로그래밍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439912" y="5568696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04504" y="54772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원격 저장소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439912" y="5861304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04504" y="57698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Postman/curl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 테스트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439912" y="6153912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604504" y="6062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DB 관리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시스템 아키텍처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+ REST API + RDB · JWT 기반 stateless 인증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88A876"/>
          </a:solidFill>
          <a:ln w="6350">
            <a:solidFill>
              <a:srgbClr val="88A8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브라우저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Safari / Mobile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063240" y="3886200"/>
            <a:ext cx="320040" cy="274320"/>
          </a:xfrm>
          <a:prstGeom prst="rightTriangle">
            <a:avLst/>
          </a:prstGeom>
          <a:solidFill>
            <a:srgbClr val="6B5757"/>
          </a:solidFill>
          <a:ln w="12700">
            <a:solidFill>
              <a:srgbClr val="6B57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29260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1188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1188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빌드 · Tailwind v4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· TanStack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943600" y="3886200"/>
            <a:ext cx="320040" cy="274320"/>
          </a:xfrm>
          <a:prstGeom prst="rightTriangle">
            <a:avLst/>
          </a:prstGeom>
          <a:solidFill>
            <a:srgbClr val="6B5757"/>
          </a:solidFill>
          <a:ln w="12700">
            <a:solidFill>
              <a:srgbClr val="6B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9260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JWT · JPA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Validation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823960" y="3886200"/>
            <a:ext cx="320040" cy="274320"/>
          </a:xfrm>
          <a:prstGeom prst="rightTriangle">
            <a:avLst/>
          </a:prstGeom>
          <a:solidFill>
            <a:srgbClr val="6B5757"/>
          </a:solidFill>
          <a:ln w="12700">
            <a:solidFill>
              <a:srgbClr val="6B57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9720" y="29260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D4A24A"/>
          </a:solidFill>
          <a:ln w="6350">
            <a:solidFill>
              <a:srgbClr val="D4A2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726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7260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마이그레이션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· 동시성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E3D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 흐름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· Bearer JWT · JSON  →  Controller → Service → Repository → JPA → MySQL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보안 · 품질 · 안정성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포트폴리오가 아닌 실서비스 수준의 방어 적용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Role-based Authz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SecurityConfig에 /api/admin/** → hasRole(ADMIN)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AdminRoute로 이중 가드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0832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274320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9512" y="2743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암호화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99432" y="33375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BCrypt(strength 10) · 솔트 자동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응답에 password 필드 절대 미포함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93024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1624" y="274320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1624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61704" y="27432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방어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21624" y="33375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(React 자동 escape · DOMPurify)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(JPA 파라미터 바인딩)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(SameSite + JWT 헤더)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제어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5349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 (@Version)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차감 시 충돌 감지 → 재시도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통합 테스트로 시나리오 검증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70832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9432" y="475488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9432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39512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처리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99432" y="5349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 통합 핸들러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상태 + 에러 코드 일관 응답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axios 인터셉터로 자동 토스트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93024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21624" y="475488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21624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061704" y="4754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21624" y="5349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Validation (@Valid)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단계에서 차단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zod-style 폼 가드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디자인 시스템 — Pet Friendly Soft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정체성 + 한국 사용자 친화 + 2026 트렌드 균형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E0785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#E07856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· 강조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BF7F1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 Cream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3721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#FBF7F1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88A87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Green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4361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#88A876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4233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 · 친환경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1F191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Black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5001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#1F1916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0" y="4873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· 헤더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D4A24A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5394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 Gold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5641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#D4A24A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5513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 · 배지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468880"/>
            <a:ext cx="56692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04495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044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퍼스트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37960" y="3218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→ 768 → 1920 순서로 break point. 한국 모바일 트래픽 70%+ 대응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63931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6393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379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Hero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3796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메인 + 작은 보조 카드 — 2026 e-commerce 트렌드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423367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4233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3796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토큰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3796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properties. .dark 모드 자동 대응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482803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48280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3796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마이크로 인터랙션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3796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hover-lift, 펄스 링, 호버 스케일 — 살아있는 느낌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542239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5422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3796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537960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aria-label · WCAG AA 명도 대비 4.5:1+ · prefers-reduced-motion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프로세스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 가이드 적용 + 단계별 commit 진화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 표면화 · 모호함 명시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외 기능 X · 추상 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Changes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인접 코드 안 건드림 · 사전 dead code mention만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1540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926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가능한 성공 기준 정의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0972800" cy="18288"/>
          </a:xfrm>
          <a:prstGeom prst="rect">
            <a:avLst/>
          </a:prstGeom>
          <a:solidFill>
            <a:srgbClr val="EDE4D6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React 19 기반 리뉴얼 초기 구성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보안·예외처리·동시성 방어 강화 + MockMvc 통합테스트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2356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전체 기능 구현 완료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6384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9516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동시성 제어 + OrderService 통합테스트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04120" y="5212080"/>
            <a:ext cx="274320" cy="274320"/>
          </a:xfrm>
          <a:prstGeom prst="ellipse">
            <a:avLst/>
          </a:prstGeom>
          <a:solidFill>
            <a:srgbClr val="E07856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05.04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3544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Friendly 디자인 + admin 권한·대시보드 개편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규모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보는 Pawmart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24+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18 + 관리자 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599432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가능한 UI 단위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93024" y="246888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1624" y="26974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421624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모듈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21624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frontend/src/api/*.ts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091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777240" y="5623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마이그레이션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943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자동 적용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70832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47091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3,176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4599432" y="5623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라인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9432" y="5943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디자인 개편 (+5%)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93024" y="448056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21624" y="47091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8421624" y="5623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21624" y="5943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Member·Product·Order·Cart·Pet…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R&amp;D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디자인 시안 — 4종 비교 후 결정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가지 안을 단번에 만들지 않고, 4개 컨셉을 만들어 검증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822960" y="3749040"/>
            <a:ext cx="219456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Editorial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흑백 + 1 accent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 / 29CM 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10712" y="246888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AF6EE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5B40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3685032" y="3749040"/>
            <a:ext cx="2194560" cy="1371600"/>
          </a:xfrm>
          <a:prstGeom prst="rect">
            <a:avLst/>
          </a:prstGeom>
          <a:solidFill>
            <a:srgbClr val="FAF6EE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Marketplace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85032" y="5669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크림+brown+sage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마켓컬리 / Chewy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2784" y="246888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E3D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3D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6547104" y="3749040"/>
            <a:ext cx="2194560" cy="1371600"/>
          </a:xfrm>
          <a:prstGeom prst="rect">
            <a:avLst/>
          </a:prstGeom>
          <a:solidFill>
            <a:srgbClr val="FFE3D6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 Pet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47104" y="5669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파스텔, 둥근 카드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Petsmart 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34856" y="246888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17936" y="26517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17936" y="2651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409176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4800" dirty="0"/>
          </a:p>
        </p:txBody>
      </p:sp>
      <p:sp>
        <p:nvSpPr>
          <p:cNvPr id="28" name="Shape 26"/>
          <p:cNvSpPr/>
          <p:nvPr/>
        </p:nvSpPr>
        <p:spPr>
          <a:xfrm>
            <a:off x="9409176" y="3749040"/>
            <a:ext cx="2194560" cy="1371600"/>
          </a:xfrm>
          <a:prstGeom prst="rect">
            <a:avLst/>
          </a:prstGeom>
          <a:solidFill>
            <a:srgbClr val="E07856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9176" y="4297680"/>
            <a:ext cx="2194560" cy="27432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09176" y="4572000"/>
            <a:ext cx="457200" cy="27432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66376" y="4572000"/>
            <a:ext cx="457200" cy="2743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09176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Korean Pet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09176" y="5669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B+C 하이브리드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— 포트폴리오 + 한국 사용자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하이라이트 화면 3선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/ 상품 상세 / 관리자 대시보드 — 디자인 일관성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3703320" cy="7315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3246120" cy="2286000"/>
          </a:xfrm>
          <a:prstGeom prst="roundRect">
            <a:avLst>
              <a:gd name="adj" fmla="val 2000"/>
            </a:avLst>
          </a:prstGeom>
          <a:solidFill>
            <a:srgbClr val="FBF7F1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520440"/>
            <a:ext cx="2971800" cy="16459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794760"/>
            <a:ext cx="1728216" cy="914400"/>
          </a:xfrm>
          <a:prstGeom prst="rect">
            <a:avLst/>
          </a:prstGeom>
          <a:solidFill>
            <a:srgbClr val="FFE3D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34056" y="3794760"/>
            <a:ext cx="1106424" cy="41148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34056" y="4297680"/>
            <a:ext cx="1106424" cy="4114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846320"/>
            <a:ext cx="6743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34490" y="4846320"/>
            <a:ext cx="6743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4580" y="4846320"/>
            <a:ext cx="6743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74670" y="4846320"/>
            <a:ext cx="67437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715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Hero + 카테고리 + 맞춤추천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베스트 + 정기배송 + 케어가이드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70832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0832" y="2468880"/>
            <a:ext cx="3703320" cy="73152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99432" y="3383280"/>
            <a:ext cx="3246120" cy="2286000"/>
          </a:xfrm>
          <a:prstGeom prst="roundRect">
            <a:avLst>
              <a:gd name="adj" fmla="val 2000"/>
            </a:avLst>
          </a:prstGeom>
          <a:solidFill>
            <a:srgbClr val="FBF7F1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6592" y="3520440"/>
            <a:ext cx="2971800" cy="164592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3794760"/>
            <a:ext cx="1440180" cy="1371600"/>
          </a:xfrm>
          <a:prstGeom prst="rect">
            <a:avLst/>
          </a:prstGeom>
          <a:solidFill>
            <a:srgbClr val="E5EFD7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8212" y="3794760"/>
            <a:ext cx="1348740" cy="228600"/>
          </a:xfrm>
          <a:prstGeom prst="rect">
            <a:avLst/>
          </a:prstGeom>
          <a:solidFill>
            <a:srgbClr val="1F1916"/>
          </a:solidFill>
          <a:ln w="12700">
            <a:solidFill>
              <a:srgbClr val="1F19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114800"/>
            <a:ext cx="1348740" cy="164592"/>
          </a:xfrm>
          <a:prstGeom prst="rect">
            <a:avLst/>
          </a:prstGeom>
          <a:solidFill>
            <a:srgbClr val="6B5757"/>
          </a:solidFill>
          <a:ln w="12700">
            <a:solidFill>
              <a:srgbClr val="6B5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8212" y="4846320"/>
            <a:ext cx="1348740" cy="3200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525780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96712" y="525780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56832" y="525780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5715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갤러리 + 효능 배지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리뷰 + 관련상품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93024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93024" y="2468880"/>
            <a:ext cx="3703320" cy="731520"/>
          </a:xfrm>
          <a:prstGeom prst="rect">
            <a:avLst/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21624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21624" y="3383280"/>
            <a:ext cx="3246120" cy="2286000"/>
          </a:xfrm>
          <a:prstGeom prst="roundRect">
            <a:avLst>
              <a:gd name="adj" fmla="val 2000"/>
            </a:avLst>
          </a:prstGeom>
          <a:solidFill>
            <a:srgbClr val="FBF7F1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58784" y="3520440"/>
            <a:ext cx="2971800" cy="164592"/>
          </a:xfrm>
          <a:prstGeom prst="rect">
            <a:avLst/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58784" y="3794760"/>
            <a:ext cx="67437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78874" y="3794760"/>
            <a:ext cx="67437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98964" y="3794760"/>
            <a:ext cx="67437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19054" y="3794760"/>
            <a:ext cx="67437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58784" y="4480560"/>
            <a:ext cx="1584198" cy="16459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42982" y="4480560"/>
            <a:ext cx="720090" cy="164592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63072" y="4480560"/>
            <a:ext cx="576072" cy="164592"/>
          </a:xfrm>
          <a:prstGeom prst="rect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58784" y="4800600"/>
            <a:ext cx="288036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58784" y="4983480"/>
            <a:ext cx="2880360" cy="137160"/>
          </a:xfrm>
          <a:prstGeom prst="rect">
            <a:avLst/>
          </a:prstGeom>
          <a:solidFill>
            <a:srgbClr val="FBF7F1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58784" y="5166360"/>
            <a:ext cx="288036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58784" y="5349240"/>
            <a:ext cx="2880360" cy="137160"/>
          </a:xfrm>
          <a:prstGeom prst="rect">
            <a:avLst/>
          </a:prstGeom>
          <a:solidFill>
            <a:srgbClr val="FBF7F1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21624" y="5715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4종 + 주문 상태 분포 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최근주문 + 빠른액션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향후 로드맵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v1. 다음 단계도 명확하게 정의돼 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45720" cy="402336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· Q2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단기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매출 추이 차트 (recharts)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480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테스트 (Playwright)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이모지 정리 + 디자인 토큰 일관성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66928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577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권한 거부 토스트 안내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70832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0832" y="2468880"/>
            <a:ext cx="45720" cy="402336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9432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· Q3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99432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중기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4645152" y="402336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자동화 (백엔드+DB+Adminer)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45152" y="457200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4480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다양화 (네이버페이 · 카카오페이)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45152" y="512064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품절 임박 자동 알림 (관리자)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45152" y="566928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5577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자동 모더레이션 (욕설 필터)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93024" y="246888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93024" y="2468880"/>
            <a:ext cx="45720" cy="4023360"/>
          </a:xfrm>
          <a:prstGeom prst="rect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21624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21624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· Q4+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21624" y="3246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장기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8467344" y="402336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95944" y="3931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상품 추천 고도화 (행동 데이터 기반)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67344" y="457200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95944" y="4480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앱 (React Native 또는 Flutter)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67344" y="512064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95944" y="5029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정기배송 데이터 분석 대시보드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67344" y="566928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95944" y="5577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채널 (펫샵 · 동물병원)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· THANK YOU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8992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만들어 갈 수 있는 기회가 되길 바라며.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176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76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seok2@pawmart.kr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465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budurang22.github.io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754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포지션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754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DevOps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6400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with React 19, Spring Boot 4 — and care.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Pawmart Portfolio</dc:title>
  <dc:subject>프리미엄 펫 e-commerce 포트폴리오</dc:subject>
  <dc:creator>서인석</dc:creator>
  <cp:lastModifiedBy>서인석</cp:lastModifiedBy>
  <cp:revision>1</cp:revision>
  <dcterms:created xsi:type="dcterms:W3CDTF">2026-10-02T03:09:20Z</dcterms:created>
  <dcterms:modified xsi:type="dcterms:W3CDTF">2026-10-02T03:09:20Z</dcterms:modified>
</cp:coreProperties>
</file>