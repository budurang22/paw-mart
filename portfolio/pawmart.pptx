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4023360" cy="2286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286000"/>
            <a:ext cx="4023360" cy="2286000"/>
          </a:xfrm>
          <a:prstGeom prst="rect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4572000"/>
            <a:ext cx="4023360" cy="228600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PAWMART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반려동물과 보호자를 위한 큐레이션 마켓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Premium Pet E-Commerce Experience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Frontend &amp; 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5월 · 풀스택 포트폴리오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Pawmart를 만들었나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펫 시장은 빠르게 커지지만, 보호자가 겪는 불편은 그대로다.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E0785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6.2조 원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한국 펫 산업 규모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전년 대비 +9% · 출처: 농촌경제연구원 추정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46888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468880"/>
            <a:ext cx="4572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606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6334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정보가 흩어져 있다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3017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카탈로그·블로그·SNS 곳곳을 뒤져야 우리 아이에게 맞는 제품을 찾을 수 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370332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3703320"/>
            <a:ext cx="4572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840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38679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추천이 부족하다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4251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품종·연령·체중·건강 상태에 따라 다른데, 일률적인 베스트셀러만 추천된다.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4937760"/>
            <a:ext cx="6126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4937760"/>
            <a:ext cx="45720" cy="1097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5074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63640" y="51023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재구매가 번거롭다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5486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사료·모래는 매번 똑같이 검색해서 다시 산다. 정기배송 옵션이 없다.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누구를 위한 서비스인가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타겟 페르소나 — 양육 5년차 직장인 보호자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743200"/>
            <a:ext cx="1280160" cy="1280160"/>
          </a:xfrm>
          <a:prstGeom prst="ellipse">
            <a:avLst/>
          </a:prstGeom>
          <a:solidFill>
            <a:srgbClr val="FFE3D6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37744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김지영 (32)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회사 · 강아지 보호자 5년차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푸들 ‘콩이’ (5살, 5.2kg)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월 펫 지출 12~18만원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모바일 70% / 데스크톱 30%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468880"/>
            <a:ext cx="6126480" cy="3657600"/>
          </a:xfrm>
          <a:prstGeom prst="roundRect">
            <a:avLst>
              <a:gd name="adj" fmla="val 3000"/>
            </a:avLst>
          </a:prstGeom>
          <a:solidFill>
            <a:srgbClr val="E5EFD7"/>
          </a:solidFill>
          <a:ln w="6350">
            <a:solidFill>
              <a:srgbClr val="88A8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46888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5852160" y="338328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콩이는 알러지가 있어서 사료를 신중하게 골라야 해요. 사료가 떨어질 때마다 처음부터 다시 검색하는 게 너무 번거로워요. 한 번에 정리된 정보를 보고 싶고, 매달 알아서 배송됐으면 좋겠어요.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5394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김지영 님 · 인터뷰 발췌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Pawmart의 5가지 차별화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카탈로그가 아닌, 보호자의 일상에 맞춘 큐레이션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2103120" cy="3383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60320"/>
            <a:ext cx="45720" cy="3383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Friendly 디자인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· Cream · Sage 펫 도메인 정체성 살린 디자인 시스템 (디자인 토큰 기반)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560320"/>
            <a:ext cx="2103120" cy="3383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2560320"/>
            <a:ext cx="45720" cy="338328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971800" y="3337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추천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71800" y="4251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종·연령·체중·건강 상태 → 영양·간식·생활용품을 30초 큐레이션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2560320"/>
            <a:ext cx="2103120" cy="3383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560320"/>
            <a:ext cx="45720" cy="3383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080" y="3337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정기배송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4251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설정하면 매달 자동 배송 + 상시 10% 할인. 언제든 해지·변경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9480" y="2560320"/>
            <a:ext cx="2103120" cy="3383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9480" y="2560320"/>
            <a:ext cx="45720" cy="338328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452360" y="3337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 가이드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52360" y="4251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입양·영양·환절기 등 전문가 검증 가이드 + 관련 상품 연결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09760" y="2560320"/>
            <a:ext cx="2103120" cy="3383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2560320"/>
            <a:ext cx="45720" cy="33832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692640" y="33375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대시보드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92640" y="425196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상태 분포, 재고 인라인 수정, 매출 통계까지 한 화면에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사용자 기능 맵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회원이 사용할 수 있는 24개 페이지 · 10개 도메인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6791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· 로그인 · 카카오/네이버 SSO 진입점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기반 세션 + 자동 갱신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46704" y="2468880"/>
            <a:ext cx="26791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75304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78224" y="274320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카탈로그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75304" y="324612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디바운스 검색 · 다중 필터 · 정렬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페이징 / 펫·카테고리·뱃지·가격대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2468880"/>
            <a:ext cx="26791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76288" y="274320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상세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3368" y="324612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갤러리 · 효능 배지 · 리뷰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상품 자동 추천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42832" y="2468880"/>
            <a:ext cx="26791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1432" y="274320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143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74352" y="274320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장바구니/위시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71432" y="324612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동시성 안전 · 수량 조정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위시리스트 · 일괄 처리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26791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475488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· 결제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25780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주소록 관리 · Toss Payments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성공/실패/취소 분기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46704" y="4480560"/>
            <a:ext cx="26791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75304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75304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78224" y="475488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575304" y="525780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내역 · 펫 프로필 등록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수정 · 회원 탈퇴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44768" y="4480560"/>
            <a:ext cx="26791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73368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3368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76288" y="475488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373368" y="525780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 후기 (다중 이미지 업로드)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 · 도움된 수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942832" y="4480560"/>
            <a:ext cx="267919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71432" y="4754880"/>
            <a:ext cx="365760" cy="365760"/>
          </a:xfrm>
          <a:prstGeom prst="ellipse">
            <a:avLst/>
          </a:prstGeom>
          <a:solidFill>
            <a:srgbClr val="FFE3D6"/>
          </a:solidFill>
          <a:ln w="12700">
            <a:solidFill>
              <a:srgbClr val="FFE3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71432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674352" y="475488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 가이드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71432" y="525780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에디토리얼 콘텐츠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태그·펫타입 필터링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관리자 기능 맵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가드로 보호된 6개 관리자 페이지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715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4종 (매출·주문·회원·상품)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상태 분포 바 시각화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필요 알림 + 빠른 액션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79392" y="246888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246888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56632" y="2715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관리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07992" y="3246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결제완료→배송완료 상태 전이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상세 모달 (수령인·상품)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필터 + 페이징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10144" y="246888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10144" y="246888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87384" y="2715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관리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38744" y="3246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· 페이징 · CRUD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뱃지 · 카테고리 · 펫타입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 통합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8056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4727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52578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단독 페이지 폼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ImageUploader 통합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검증 + 에러 처리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79392" y="44805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9392" y="448056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7992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56632" y="4727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관리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07992" y="52578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부족(≤10) · 품절 필터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인라인 수정 + 되돌리기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낙관적 동시성 제어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10144" y="44805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10144" y="4480560"/>
            <a:ext cx="45720" cy="18288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38744" y="4709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787384" y="4727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관리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38744" y="52578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회원 페이징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/ 상태 표시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가입일 정렬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안정 버전 위주 · 한국 시장 친화 (Pretendard, Toss)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45720" cy="402336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브라우저에서 실행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" y="3520440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" y="3813048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21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5.6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" y="4105656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14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" y="4398264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306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" y="4690872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5994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latest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" y="4983480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892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상태 관리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" y="5276088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184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HTTP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" y="5568696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4772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아이콘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" y="5861304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7698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Pretendard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한글 폰트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" y="6153912"/>
            <a:ext cx="73152" cy="73152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60624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SDK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결제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79392" y="24688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9392" y="2468880"/>
            <a:ext cx="45720" cy="402336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07992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88A8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07992" y="3063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기반 REST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26280" y="3520440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0872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26280" y="3813048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3721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21 (LTS)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26280" y="4105656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0872" y="4014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JWT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26280" y="4398264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90872" y="4306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Hibernate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26280" y="4690872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90872" y="45994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26280" y="4983480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90872" y="4892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마이그레이션 12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26280" y="5276088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90872" y="5184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암호화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26280" y="5568696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90872" y="54772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보일러플레이트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26280" y="5861304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90872" y="57698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Payments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PG 통합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26280" y="6153912"/>
            <a:ext cx="73152" cy="73152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90872" y="60624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통합 테스트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010144" y="24688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10144" y="2468880"/>
            <a:ext cx="45720" cy="4023360"/>
          </a:xfrm>
          <a:prstGeom prst="rect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38744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4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 · Tools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8238744" y="3063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/ 빌드 / 협업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257032" y="3520440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21624" y="3429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버전관리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257032" y="3813048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21624" y="3721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 (Kotlin DSL)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257032" y="4105656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21624" y="4014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flat config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257032" y="4398264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21624" y="4306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포맷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257032" y="4690872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21624" y="45994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패키지 매니저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257032" y="4983480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21624" y="4892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가이드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코드 원칙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257032" y="5276088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21624" y="5184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AI 페어 프로그래밍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257032" y="5568696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21624" y="547725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원격 저장소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257032" y="5861304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21624" y="57698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Postman/curl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API 테스트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257032" y="6153912"/>
            <a:ext cx="73152" cy="73152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21624" y="60624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</a:t>
            </a:r>
            <a:pPr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DB 관리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시스템 아키텍처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↔ REST API (JSON · Bearer JWT) ↔ Spring Boot ↔ MySQL · 외부 결제(Toss Payments) 연동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957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· :5173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624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(Vite)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FBF7F1"/>
          </a:solidFill>
          <a:ln w="9525">
            <a:solidFill>
              <a:srgbClr val="EDE4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017520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apiClient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자동 주입 · 401 → 자동 refresh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FBF7F1"/>
          </a:solidFill>
          <a:ln w="9525">
            <a:solidFill>
              <a:srgbClr val="ED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657600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cart 전역 상태 (persist)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FBF7F1"/>
          </a:solidFill>
          <a:ln w="9525">
            <a:solidFill>
              <a:srgbClr val="EDE4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297680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· React Router 7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18 · 관리자 6 화면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937760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FBF7F1"/>
          </a:solidFill>
          <a:ln w="9525">
            <a:solidFill>
              <a:srgbClr val="EDE4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937760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PrivateRoute · AdminRoute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/ ROLE_ADMIN 화면 가드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5577840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FBF7F1"/>
          </a:solidFill>
          <a:ln w="9525">
            <a:solidFill>
              <a:srgbClr val="EDE4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577840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Payments SDK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결제창 호출 · success/fail 리다이렉트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77640" y="2240280"/>
            <a:ext cx="4572000" cy="4114800"/>
          </a:xfrm>
          <a:prstGeom prst="roundRect">
            <a:avLst>
              <a:gd name="adj" fmla="val 2667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3957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:9000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60520" y="26243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· Java 21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60520" y="3017520"/>
            <a:ext cx="2606040" cy="530352"/>
          </a:xfrm>
          <a:prstGeom prst="roundRect">
            <a:avLst>
              <a:gd name="adj" fmla="val 10345"/>
            </a:avLst>
          </a:prstGeom>
          <a:solidFill>
            <a:srgbClr val="3A2D2B"/>
          </a:solidFill>
          <a:ln w="9525">
            <a:solidFill>
              <a:srgbClr val="4E3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0248" y="3017520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 Chain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 · STATELESS · URL별 인가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60520" y="3657600"/>
            <a:ext cx="2606040" cy="530352"/>
          </a:xfrm>
          <a:prstGeom prst="roundRect">
            <a:avLst>
              <a:gd name="adj" fmla="val 10345"/>
            </a:avLst>
          </a:prstGeom>
          <a:solidFill>
            <a:srgbClr val="3A2D2B"/>
          </a:solidFill>
          <a:ln w="9525">
            <a:solidFill>
              <a:srgbClr val="4E3F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0248" y="3657600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 ×14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· DTO(record) · @Valid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60520" y="4297680"/>
            <a:ext cx="2606040" cy="530352"/>
          </a:xfrm>
          <a:prstGeom prst="roundRect">
            <a:avLst>
              <a:gd name="adj" fmla="val 10345"/>
            </a:avLst>
          </a:prstGeom>
          <a:solidFill>
            <a:srgbClr val="3A2D2B"/>
          </a:solidFill>
          <a:ln w="9525">
            <a:solidFill>
              <a:srgbClr val="4E3F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0248" y="4297680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· 비즈니스 규칙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60520" y="4937760"/>
            <a:ext cx="2606040" cy="530352"/>
          </a:xfrm>
          <a:prstGeom prst="roundRect">
            <a:avLst>
              <a:gd name="adj" fmla="val 10345"/>
            </a:avLst>
          </a:prstGeom>
          <a:solidFill>
            <a:srgbClr val="3A2D2B"/>
          </a:solidFill>
          <a:ln w="9525">
            <a:solidFill>
              <a:srgbClr val="4E3F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0248" y="4937760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· 비관적 락 조회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60520" y="5577840"/>
            <a:ext cx="2606040" cy="530352"/>
          </a:xfrm>
          <a:prstGeom prst="roundRect">
            <a:avLst>
              <a:gd name="adj" fmla="val 10345"/>
            </a:avLst>
          </a:prstGeom>
          <a:solidFill>
            <a:srgbClr val="3A2D2B"/>
          </a:solidFill>
          <a:ln w="9525">
            <a:solidFill>
              <a:srgbClr val="4E3F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70248" y="5577840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7 (JPA)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↔ Table · ddl-auto: none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03720" y="3017520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3A2D2B"/>
          </a:solidFill>
          <a:ln w="9525">
            <a:solidFill>
              <a:srgbClr val="4E3F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3448" y="3017520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TossPaymentClient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승인 API 호출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03720" y="3657600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3A2D2B"/>
          </a:solidFill>
          <a:ln w="9525">
            <a:solidFill>
              <a:srgbClr val="4E3F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13448" y="3657600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FileStorageService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저장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03720" y="4297680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3A2D2B"/>
          </a:solidFill>
          <a:ln w="9525">
            <a:solidFill>
              <a:srgbClr val="4E3F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13448" y="4297680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ErrorCode 일관 응답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03720" y="4937760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3A2D2B"/>
          </a:solidFill>
          <a:ln w="9525">
            <a:solidFill>
              <a:srgbClr val="4E3F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13448" y="4937760"/>
            <a:ext cx="1243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JwtUtil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30분 · Refresh 7일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961120" y="2240280"/>
            <a:ext cx="2651760" cy="41148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0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EXTERNAL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0" y="2624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· 외부 API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144000" y="301752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E07856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9253728" y="301752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Payments API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api.tosspayments.com (외부)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144000" y="365760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BF7F1"/>
          </a:solidFill>
          <a:ln w="9525">
            <a:solidFill>
              <a:srgbClr val="EDE4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53728" y="365760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 Storage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./uploads → /uploads/** 정적 제공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144000" y="4297680"/>
            <a:ext cx="2286000" cy="1810512"/>
          </a:xfrm>
          <a:prstGeom prst="can">
            <a:avLst/>
          </a:prstGeom>
          <a:solidFill>
            <a:srgbClr val="FFE3D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47091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6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· utf8mb4 · 9 tables</a:t>
            </a:r>
            <a:endParaRPr lang="en-US" sz="16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V1 → V12 자동 마이그레이션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91840" y="3282696"/>
            <a:ext cx="685800" cy="0"/>
          </a:xfrm>
          <a:prstGeom prst="line">
            <a:avLst/>
          </a:prstGeom>
          <a:noFill/>
          <a:ln w="22225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3291840" y="3035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91840" y="333756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366760" y="3282696"/>
            <a:ext cx="777240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8366760" y="3922776"/>
            <a:ext cx="777240" cy="0"/>
          </a:xfrm>
          <a:prstGeom prst="line">
            <a:avLst/>
          </a:prstGeom>
          <a:noFill/>
          <a:ln w="15875">
            <a:solidFill>
              <a:srgbClr val="6B5757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766560" y="5843016"/>
            <a:ext cx="2377440" cy="0"/>
          </a:xfrm>
          <a:prstGeom prst="line">
            <a:avLst/>
          </a:prstGeom>
          <a:noFill/>
          <a:ln w="22225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6903720" y="55961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· HikariCP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백엔드 레이어 · 패키지 구조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패키지(package-by-feature) + 계층형 책임 분리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60350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com.pawmart.backend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A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27432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 · JwtAuthFilter · JwtUtil · CORS · JPA Auditing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035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035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A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0" y="30358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ErrorCode · BusinessException · GlobalExceptionHandler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3284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3284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332841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· 로그인 · 토큰 재발급 · 프로필 · 탈퇴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6210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621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94560" y="36210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목록(필터·정렬·페이징) · 상세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3913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913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94560" y="39136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 담기 · 수량 변경 · 삭제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206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94560" y="42062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생성 · 조회 · 취소 + 재고 차감/복구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44988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4498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194560" y="44988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Payments 승인 연동 · 결제 기록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47914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" y="4791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194560" y="479145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 리뷰 작성 · 조회 · 삭제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50840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" y="5084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wishlist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194560" y="50840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찜 토글 · 목록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5376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" y="5376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94560" y="53766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 프로필 CRUD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" y="5669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7280" y="5669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194560" y="56692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업로드 (로컬 저장)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" y="5961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97280" y="5961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8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194560" y="59618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상품 · 주문 · 회원 · 통계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8000" y="224028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59168" y="2487168"/>
            <a:ext cx="420624" cy="420624"/>
          </a:xfrm>
          <a:prstGeom prst="ellipse">
            <a:avLst/>
          </a:prstGeom>
          <a:solidFill>
            <a:srgbClr val="FFE3D6"/>
          </a:solidFill>
          <a:ln w="15875">
            <a:solidFill>
              <a:srgbClr val="E078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916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680960" y="2350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680960" y="264261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매핑 · @Valid 입력 검증 · DTO(record) 변환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엔티티를 API 응답에 직접 노출하지 않음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58000" y="3305556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59168" y="3552444"/>
            <a:ext cx="420624" cy="420624"/>
          </a:xfrm>
          <a:prstGeom prst="ellipse">
            <a:avLst/>
          </a:prstGeom>
          <a:solidFill>
            <a:srgbClr val="FFE3D6"/>
          </a:solidFill>
          <a:ln w="15875">
            <a:solidFill>
              <a:srgbClr val="E0785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9168" y="35524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680960" y="34152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680960" y="370789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@Transactional(readOnly = true) 기본, 쓰기만 별도 지정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차감 · 주문 취소 등 비즈니스 규칙 담당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858000" y="4370832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59168" y="4617720"/>
            <a:ext cx="420624" cy="420624"/>
          </a:xfrm>
          <a:prstGeom prst="ellipse">
            <a:avLst/>
          </a:prstGeom>
          <a:solidFill>
            <a:srgbClr val="FFE3D6"/>
          </a:solidFill>
          <a:ln w="15875">
            <a:solidFill>
              <a:srgbClr val="E0785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9168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680960" y="44805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680960" y="477316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JpaRepository 상속 · 메서드 이름 기반 쿼리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findByIdForUpdate → @Lock(PESSIMISTIC_WRITE)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858000" y="5436108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59168" y="5682996"/>
            <a:ext cx="420624" cy="420624"/>
          </a:xfrm>
          <a:prstGeom prst="ellipse">
            <a:avLst/>
          </a:prstGeom>
          <a:solidFill>
            <a:srgbClr val="FFE3D6"/>
          </a:solidFill>
          <a:ln w="15875">
            <a:solidFill>
              <a:srgbClr val="E0785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59168" y="56829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680960" y="55458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7680960" y="583844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메서드로 상태 변경 (decreaseStock, cancel)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@Version · JPA Auditing (createdAt / updatedAt)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ERD — 데이터베이스 설계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· 9개 테이블 · 회원(member)과 상품(product)을 축으로 한 정규화 구조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103120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9456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194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반려동물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14400" y="2487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83080" y="248716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21792" y="26517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83080" y="265176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14400" y="28163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83080" y="281635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14400" y="29809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83080" y="298094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14400" y="31455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83080" y="314553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21031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11480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148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41148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" y="44074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14400" y="44074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83080" y="440740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1792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14400" y="45720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83080" y="457200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21792" y="47365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14400" y="4736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783080" y="473659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1792" y="49011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14400" y="49011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payment_key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783080" y="490118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VARCHAR(200)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1792" y="50657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914400" y="50657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toss_order_id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783080" y="506577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VARCHAR(64)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914400" y="5230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783080" y="523036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914400" y="5394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· status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783080" y="539496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383280" y="219456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2194560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0" y="2194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26280" y="21945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456432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49040" y="24871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00600" y="248716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456432" y="26517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749040" y="2651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login_id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00600" y="265176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749040" y="2816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00600" y="281635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VARCHAR(60)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749040" y="29809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00600" y="298094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456432" y="314553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749040" y="31455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800600" y="314553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749040" y="3310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00600" y="331012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749040" y="34747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800600" y="347472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749040" y="36393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 · 수신동의 …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800600" y="363931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383280" y="4114800"/>
            <a:ext cx="228600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383280" y="4114800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526280" y="4114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456432" y="440740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749040" y="440740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800600" y="440740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3456432" y="45720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749040" y="45720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order_number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800600" y="457200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VARCHAR(30)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3456432" y="47365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749040" y="47365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800600" y="473659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3749040" y="4901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800600" y="490118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→ DELIVERED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3749040" y="50657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total_price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800600" y="506577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3749040" y="52303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· 배송지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800600" y="523036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3749040" y="5394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paid_at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800600" y="539496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6400800" y="2194560"/>
            <a:ext cx="21945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00800" y="219456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92240" y="2194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cart_item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7498080" y="2194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6473952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6766560" y="24871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726680" y="248716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6473952" y="26517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6766560" y="26517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7726680" y="265176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6473952" y="28163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6766560" y="28163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7726680" y="281635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6766560" y="29809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726680" y="298094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400800" y="3255264"/>
            <a:ext cx="2194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400800" y="3255264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492240" y="325526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wishlist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7498080" y="32552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찜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6473952" y="35478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6766560" y="35478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7726680" y="354787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6473952" y="37124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6766560" y="37124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7726680" y="371246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473952" y="38770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6766560" y="38770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7726680" y="387705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6400800" y="4151376"/>
            <a:ext cx="21945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400800" y="4151376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492240" y="415137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7498080" y="41513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6473952" y="44439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6766560" y="44439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7726680" y="444398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6473952" y="46085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6766560" y="46085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7726680" y="460857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473952" y="4773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6766560" y="47731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7726680" y="477316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6766560" y="49377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· image_urls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7726680" y="493776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TINYINT · JSON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6400800" y="5212080"/>
            <a:ext cx="2194560" cy="115214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400800" y="5212080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492240" y="5212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order_item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7498080" y="5212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상품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6473952" y="55046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40" name="Text 138"/>
          <p:cNvSpPr/>
          <p:nvPr/>
        </p:nvSpPr>
        <p:spPr>
          <a:xfrm>
            <a:off x="6766560" y="55046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7726680" y="550468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6473952" y="56692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6766560" y="56692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726680" y="566928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6766560" y="58338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(논리 참조)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7726680" y="583387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6766560" y="59984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price 스냅샷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7726680" y="599846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· INT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6766560" y="61630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7726680" y="616305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9326880" y="2194560"/>
            <a:ext cx="22860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326880" y="2194560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9418320" y="2194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endParaRPr lang="en-US" sz="1000" dirty="0"/>
          </a:p>
        </p:txBody>
      </p:sp>
      <p:sp>
        <p:nvSpPr>
          <p:cNvPr id="154" name="Text 152"/>
          <p:cNvSpPr/>
          <p:nvPr/>
        </p:nvSpPr>
        <p:spPr>
          <a:xfrm>
            <a:off x="10469880" y="21945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</a:t>
            </a:r>
            <a:endParaRPr lang="en-US" sz="850" dirty="0"/>
          </a:p>
        </p:txBody>
      </p:sp>
      <p:sp>
        <p:nvSpPr>
          <p:cNvPr id="155" name="Text 153"/>
          <p:cNvSpPr/>
          <p:nvPr/>
        </p:nvSpPr>
        <p:spPr>
          <a:xfrm>
            <a:off x="9400032" y="24871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700" dirty="0"/>
          </a:p>
        </p:txBody>
      </p:sp>
      <p:sp>
        <p:nvSpPr>
          <p:cNvPr id="156" name="Text 154"/>
          <p:cNvSpPr/>
          <p:nvPr/>
        </p:nvSpPr>
        <p:spPr>
          <a:xfrm>
            <a:off x="9692640" y="24871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157" name="Text 155"/>
          <p:cNvSpPr/>
          <p:nvPr/>
        </p:nvSpPr>
        <p:spPr>
          <a:xfrm>
            <a:off x="10744200" y="248716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58" name="Text 156"/>
          <p:cNvSpPr/>
          <p:nvPr/>
        </p:nvSpPr>
        <p:spPr>
          <a:xfrm>
            <a:off x="9692640" y="2651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159" name="Text 157"/>
          <p:cNvSpPr/>
          <p:nvPr/>
        </p:nvSpPr>
        <p:spPr>
          <a:xfrm>
            <a:off x="10744200" y="265176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VARCHAR(200)</a:t>
            </a:r>
            <a:endParaRPr lang="en-US" sz="700" dirty="0"/>
          </a:p>
        </p:txBody>
      </p:sp>
      <p:sp>
        <p:nvSpPr>
          <p:cNvPr id="160" name="Text 158"/>
          <p:cNvSpPr/>
          <p:nvPr/>
        </p:nvSpPr>
        <p:spPr>
          <a:xfrm>
            <a:off x="9692640" y="2816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· original_price</a:t>
            </a:r>
            <a:endParaRPr lang="en-US" sz="800" dirty="0"/>
          </a:p>
        </p:txBody>
      </p:sp>
      <p:sp>
        <p:nvSpPr>
          <p:cNvPr id="161" name="Text 159"/>
          <p:cNvSpPr/>
          <p:nvPr/>
        </p:nvSpPr>
        <p:spPr>
          <a:xfrm>
            <a:off x="10744200" y="281635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00" dirty="0"/>
          </a:p>
        </p:txBody>
      </p:sp>
      <p:sp>
        <p:nvSpPr>
          <p:cNvPr id="162" name="Text 160"/>
          <p:cNvSpPr/>
          <p:nvPr/>
        </p:nvSpPr>
        <p:spPr>
          <a:xfrm>
            <a:off x="9692640" y="29809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pet_type</a:t>
            </a:r>
            <a:endParaRPr lang="en-US" sz="800" dirty="0"/>
          </a:p>
        </p:txBody>
      </p:sp>
      <p:sp>
        <p:nvSpPr>
          <p:cNvPr id="163" name="Text 161"/>
          <p:cNvSpPr/>
          <p:nvPr/>
        </p:nvSpPr>
        <p:spPr>
          <a:xfrm>
            <a:off x="10744200" y="2980944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700" dirty="0"/>
          </a:p>
        </p:txBody>
      </p:sp>
      <p:sp>
        <p:nvSpPr>
          <p:cNvPr id="164" name="Text 162"/>
          <p:cNvSpPr/>
          <p:nvPr/>
        </p:nvSpPr>
        <p:spPr>
          <a:xfrm>
            <a:off x="9692640" y="31455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800" dirty="0"/>
          </a:p>
        </p:txBody>
      </p:sp>
      <p:sp>
        <p:nvSpPr>
          <p:cNvPr id="165" name="Text 163"/>
          <p:cNvSpPr/>
          <p:nvPr/>
        </p:nvSpPr>
        <p:spPr>
          <a:xfrm>
            <a:off x="10744200" y="3145536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700" dirty="0"/>
          </a:p>
        </p:txBody>
      </p:sp>
      <p:sp>
        <p:nvSpPr>
          <p:cNvPr id="166" name="Text 164"/>
          <p:cNvSpPr/>
          <p:nvPr/>
        </p:nvSpPr>
        <p:spPr>
          <a:xfrm>
            <a:off x="9692640" y="3310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167" name="Text 165"/>
          <p:cNvSpPr/>
          <p:nvPr/>
        </p:nvSpPr>
        <p:spPr>
          <a:xfrm>
            <a:off x="10744200" y="3310128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ON_SALE …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9692640" y="34747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· review_count</a:t>
            </a:r>
            <a:endParaRPr lang="en-US" sz="800" dirty="0"/>
          </a:p>
        </p:txBody>
      </p:sp>
      <p:sp>
        <p:nvSpPr>
          <p:cNvPr id="169" name="Text 167"/>
          <p:cNvSpPr/>
          <p:nvPr/>
        </p:nvSpPr>
        <p:spPr>
          <a:xfrm>
            <a:off x="10744200" y="347472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· INT</a:t>
            </a:r>
            <a:endParaRPr lang="en-US" sz="700" dirty="0"/>
          </a:p>
        </p:txBody>
      </p:sp>
      <p:sp>
        <p:nvSpPr>
          <p:cNvPr id="170" name="Text 168"/>
          <p:cNvSpPr/>
          <p:nvPr/>
        </p:nvSpPr>
        <p:spPr>
          <a:xfrm>
            <a:off x="9692640" y="36393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800" dirty="0"/>
          </a:p>
        </p:txBody>
      </p:sp>
      <p:sp>
        <p:nvSpPr>
          <p:cNvPr id="171" name="Text 169"/>
          <p:cNvSpPr/>
          <p:nvPr/>
        </p:nvSpPr>
        <p:spPr>
          <a:xfrm>
            <a:off x="10744200" y="363931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 flipH="1">
            <a:off x="2651760" y="2743200"/>
            <a:ext cx="73152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182112" y="25603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4" name="Text 172"/>
          <p:cNvSpPr/>
          <p:nvPr/>
        </p:nvSpPr>
        <p:spPr>
          <a:xfrm>
            <a:off x="2670048" y="25603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 flipH="1">
            <a:off x="1600200" y="3611880"/>
            <a:ext cx="178308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600200" y="3611880"/>
            <a:ext cx="0" cy="50292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3182112" y="34290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8" name="Text 176"/>
          <p:cNvSpPr/>
          <p:nvPr/>
        </p:nvSpPr>
        <p:spPr>
          <a:xfrm>
            <a:off x="1627632" y="39319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4526280" y="3840480"/>
            <a:ext cx="0" cy="27432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553712" y="38404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1" name="Text 179"/>
          <p:cNvSpPr/>
          <p:nvPr/>
        </p:nvSpPr>
        <p:spPr>
          <a:xfrm>
            <a:off x="4553712" y="395935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 flipH="1">
            <a:off x="2651760" y="4846320"/>
            <a:ext cx="73152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182112" y="46634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4" name="Text 182"/>
          <p:cNvSpPr/>
          <p:nvPr/>
        </p:nvSpPr>
        <p:spPr>
          <a:xfrm>
            <a:off x="2670048" y="46634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85" name="Shape 183"/>
          <p:cNvSpPr/>
          <p:nvPr/>
        </p:nvSpPr>
        <p:spPr>
          <a:xfrm>
            <a:off x="5669280" y="5413248"/>
            <a:ext cx="73152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687568" y="523036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87" name="Text 185"/>
          <p:cNvSpPr/>
          <p:nvPr/>
        </p:nvSpPr>
        <p:spPr>
          <a:xfrm>
            <a:off x="6199632" y="523036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5669280" y="2688336"/>
            <a:ext cx="36576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035040" y="2688336"/>
            <a:ext cx="0" cy="1956816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035040" y="2688336"/>
            <a:ext cx="36576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199632" y="25054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6035040" y="3666744"/>
            <a:ext cx="36576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199632" y="34838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6035040" y="4645152"/>
            <a:ext cx="36576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199632" y="4462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196" name="Text 194"/>
          <p:cNvSpPr/>
          <p:nvPr/>
        </p:nvSpPr>
        <p:spPr>
          <a:xfrm>
            <a:off x="5687568" y="25054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 flipH="1">
            <a:off x="8961120" y="2688336"/>
            <a:ext cx="36576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961120" y="2688336"/>
            <a:ext cx="0" cy="1956816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flipH="1">
            <a:off x="8595360" y="2688336"/>
            <a:ext cx="36576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8613648" y="25054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 flipH="1">
            <a:off x="8595360" y="3666744"/>
            <a:ext cx="36576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8613648" y="34838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 flipH="1">
            <a:off x="8595360" y="4645152"/>
            <a:ext cx="36576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8613648" y="44622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205" name="Text 203"/>
          <p:cNvSpPr/>
          <p:nvPr/>
        </p:nvSpPr>
        <p:spPr>
          <a:xfrm>
            <a:off x="9125712" y="25054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9692640" y="3840480"/>
            <a:ext cx="0" cy="1947672"/>
          </a:xfrm>
          <a:prstGeom prst="line">
            <a:avLst/>
          </a:prstGeom>
          <a:noFill/>
          <a:ln w="12700">
            <a:solidFill>
              <a:srgbClr val="6B5757"/>
            </a:solidFill>
            <a:prstDash val="dash"/>
          </a:ln>
        </p:spPr>
      </p:sp>
      <p:sp>
        <p:nvSpPr>
          <p:cNvPr id="207" name="Shape 205"/>
          <p:cNvSpPr/>
          <p:nvPr/>
        </p:nvSpPr>
        <p:spPr>
          <a:xfrm flipH="1">
            <a:off x="8595360" y="5788152"/>
            <a:ext cx="109728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dash"/>
          </a:ln>
        </p:spPr>
      </p:sp>
      <p:sp>
        <p:nvSpPr>
          <p:cNvPr id="208" name="Shape 206"/>
          <p:cNvSpPr/>
          <p:nvPr/>
        </p:nvSpPr>
        <p:spPr>
          <a:xfrm>
            <a:off x="10058400" y="4114800"/>
            <a:ext cx="1554480" cy="22402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10195560" y="4206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10195560" y="4462272"/>
            <a:ext cx="1325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D4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기본키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외래키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유니크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관계 (1:N)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참조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스냅샷 저장으로 상품이 바뀌어도 주문 이력 보존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SPEC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테이블 명세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버전 관리 · ddl-auto: none (JPA가 스키마를 임의로 바꾸지 않음)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60120"/>
                <a:gridCol w="3657600"/>
                <a:gridCol w="429768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테이블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컬럼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제약 · 인덱스 · 설계 의도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078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login_id, password_hash(BCrypt), email, role,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UK(login_id) · UK(email) · 탈퇴는 status로 처리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078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price, original_price, stock, status, rating, 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IDX(category · pet_type · status) · @Version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· V12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078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cart_item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장바구니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member_id, product_id, 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UK(member_id, product_id) 중복 담기 방지 · CASCADE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078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order_number, status, total_price, 배송지, paid_at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UK(order_number) · IDX(member_id) · IDX(status)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078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order_item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 상품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order_id, product_id, name · price · image_url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 시점 스냅샷 → 상품 변경/삭제와 무관하게 이력 보존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078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wishlist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member_id, product_id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UK(member_id, product_id) · CASCADE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078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rating, content, image_urls(JSON)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UK(product_id, member_id) 1인 1리뷰 · CHECK(1~5)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V6 · V9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078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payment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payment_key, toss_order_id, amount,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UK(payment_key) · UK(toss_order_id) 중복 결제 차단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078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반려동물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type(DOG · CAT …), age, image_url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9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FK(member_id) CASCADE · IDX(member_id)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5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명세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 컨트롤러 · 41개 엔드포인트 · 자원 중심 URI · 공통 에러 응답(ErrorResponse)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7744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395728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3957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13232" y="2606040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13232" y="2825496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82549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335024" y="2807208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/signup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" y="3017520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01752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335024" y="2999232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" y="3209544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20954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35024" y="3191256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/refresh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" y="3401568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40156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35024" y="3383280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/logout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3232" y="3593592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59359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335024" y="3575304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3232" y="384048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68880" y="3858768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8587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13232" y="4069080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/api/members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3232" y="4288536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28853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335024" y="4270248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" y="4480560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48056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335024" y="4462272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/me/password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3232" y="4672584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467258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335024" y="4654296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" y="491947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68880" y="4937760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49377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13232" y="514807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/api/pets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13232" y="5367528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536752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335024" y="5349240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3232" y="5559552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555955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335024" y="5541264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3232" y="5751576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575157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335024" y="5733288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3232" y="5943600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" y="594360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335024" y="5925312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346704" y="224028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11296" y="237744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266944" y="2395728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66944" y="23957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11296" y="2606040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511296" y="2825496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11296" y="282549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133088" y="2807208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511296" y="3017520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11296" y="301752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133088" y="2999232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511296" y="326440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266944" y="3282696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66944" y="32826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511296" y="3493008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/api/products/{id}/reviews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511296" y="3712464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11296" y="371246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133088" y="3694176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511296" y="3904488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511296" y="390448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133088" y="3886200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511296" y="4096512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11296" y="409651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133088" y="4078224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/{reviewId}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511296" y="434340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266944" y="4361688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266944" y="43616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3511296" y="4572000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/api/wishlist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511296" y="4791456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511296" y="479145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4133088" y="4773168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511296" y="4983480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511296" y="498348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133088" y="4965192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/{productId}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511296" y="5175504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511296" y="517550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4133088" y="5157216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/{productId}/status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3511296" y="5422392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266944" y="5440680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266944" y="54406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511296" y="5650992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/api/uploads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3511296" y="5870448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511296" y="58704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133088" y="5852160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/image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144768" y="224028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09360" y="237744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8065008" y="2395728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065008" y="23957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6309360" y="2606040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6309360" y="2825496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309360" y="282549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6931152" y="2807208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09360" y="3017520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309360" y="301752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6931152" y="2999232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09360" y="3209544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309360" y="320954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6931152" y="3191256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/{itemId}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09360" y="3401568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309360" y="340156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6931152" y="3383280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/{itemId}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09360" y="3593592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309360" y="359359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6931152" y="3575304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6309360" y="384048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065008" y="3858768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065008" y="38587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6309360" y="4069080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6309360" y="4288536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309360" y="428853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6931152" y="4270248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6309360" y="4480560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309360" y="448056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6931152" y="4462272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6309360" y="4672584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309360" y="467258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6931152" y="4654296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6309360" y="4864608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309360" y="486460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6931152" y="4846320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6309360" y="5111496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8065008" y="5129784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065008" y="51297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6309360" y="534009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/api/payments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6309360" y="5559552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309360" y="555955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6931152" y="5541264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/confirm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8942832" y="2240280"/>
            <a:ext cx="2679192" cy="41148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107424" y="237744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Product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10863072" y="2395728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0863072" y="23957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9107424" y="2606040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/api/admin/products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9107424" y="2825496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9107424" y="282549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152" name="Text 150"/>
          <p:cNvSpPr/>
          <p:nvPr/>
        </p:nvSpPr>
        <p:spPr>
          <a:xfrm>
            <a:off x="9729216" y="2807208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107424" y="3017520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107424" y="301752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55" name="Text 153"/>
          <p:cNvSpPr/>
          <p:nvPr/>
        </p:nvSpPr>
        <p:spPr>
          <a:xfrm>
            <a:off x="9729216" y="2999232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9107424" y="3209544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9107424" y="320954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700" dirty="0"/>
          </a:p>
        </p:txBody>
      </p:sp>
      <p:sp>
        <p:nvSpPr>
          <p:cNvPr id="158" name="Text 156"/>
          <p:cNvSpPr/>
          <p:nvPr/>
        </p:nvSpPr>
        <p:spPr>
          <a:xfrm>
            <a:off x="9729216" y="3191256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9107424" y="3401568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107424" y="340156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729216" y="3383280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900" dirty="0"/>
          </a:p>
        </p:txBody>
      </p:sp>
      <p:sp>
        <p:nvSpPr>
          <p:cNvPr id="162" name="Text 160"/>
          <p:cNvSpPr/>
          <p:nvPr/>
        </p:nvSpPr>
        <p:spPr>
          <a:xfrm>
            <a:off x="9107424" y="3648456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Order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10863072" y="3666744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0863072" y="36667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00" dirty="0"/>
          </a:p>
        </p:txBody>
      </p:sp>
      <p:sp>
        <p:nvSpPr>
          <p:cNvPr id="165" name="Text 163"/>
          <p:cNvSpPr/>
          <p:nvPr/>
        </p:nvSpPr>
        <p:spPr>
          <a:xfrm>
            <a:off x="9107424" y="387705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/api/admin/orders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9107424" y="4096512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9107424" y="409651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9729216" y="4078224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9107424" y="4288536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107424" y="428853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171" name="Text 169"/>
          <p:cNvSpPr/>
          <p:nvPr/>
        </p:nvSpPr>
        <p:spPr>
          <a:xfrm>
            <a:off x="9729216" y="4270248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9107424" y="4480560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107424" y="4480560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9729216" y="4462272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/{id}/status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9107424" y="472744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Member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10863072" y="4745736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0863072" y="47457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9107424" y="4956048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/api/admin/members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9107424" y="5175504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9107424" y="517550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9729216" y="5157216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9107424" y="5367528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107424" y="536752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9729216" y="5349240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900" dirty="0"/>
          </a:p>
        </p:txBody>
      </p:sp>
      <p:sp>
        <p:nvSpPr>
          <p:cNvPr id="185" name="Text 183"/>
          <p:cNvSpPr/>
          <p:nvPr/>
        </p:nvSpPr>
        <p:spPr>
          <a:xfrm>
            <a:off x="9107424" y="5614416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Stats</a:t>
            </a:r>
            <a:endParaRPr lang="en-US" sz="1100" dirty="0"/>
          </a:p>
        </p:txBody>
      </p:sp>
      <p:sp>
        <p:nvSpPr>
          <p:cNvPr id="186" name="Shape 184"/>
          <p:cNvSpPr/>
          <p:nvPr/>
        </p:nvSpPr>
        <p:spPr>
          <a:xfrm>
            <a:off x="10863072" y="5632704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0863072" y="56327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00" dirty="0"/>
          </a:p>
        </p:txBody>
      </p:sp>
      <p:sp>
        <p:nvSpPr>
          <p:cNvPr id="188" name="Text 186"/>
          <p:cNvSpPr/>
          <p:nvPr/>
        </p:nvSpPr>
        <p:spPr>
          <a:xfrm>
            <a:off x="9107424" y="584301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/api/admin/stats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9107424" y="6062472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9107424" y="606247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191" name="Text 189"/>
          <p:cNvSpPr/>
          <p:nvPr/>
        </p:nvSpPr>
        <p:spPr>
          <a:xfrm>
            <a:off x="9729216" y="6044184"/>
            <a:ext cx="17647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인증 · 인가 흐름 (JWT)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 세션을 저장하지 않는 Stateless 구조 · Access / Refresh 토큰 분리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272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해시 비교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4328" y="3035808"/>
            <a:ext cx="155448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98064" y="224028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80944" y="27889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발급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80944" y="31272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30분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7일 (jjwt 0.12)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73752" y="3035808"/>
            <a:ext cx="155448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47488" y="224028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30368" y="27889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보관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0368" y="31272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persist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localStorage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23176" y="3035808"/>
            <a:ext cx="155448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96912" y="224028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79792" y="27889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요청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79792" y="31272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요청 인터셉터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372600" y="3035808"/>
            <a:ext cx="155448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46336" y="224028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9216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729216" y="27889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검증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29216" y="31272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 서명·만료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SecurityContext(ROLE)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114800"/>
            <a:ext cx="667512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2519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만료 시 — 자동 재발급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4645152"/>
            <a:ext cx="237744" cy="237744"/>
          </a:xfrm>
          <a:prstGeom prst="ellipse">
            <a:avLst/>
          </a:prstGeom>
          <a:solidFill>
            <a:srgbClr val="FFE3D6"/>
          </a:solidFill>
          <a:ln w="9525">
            <a:solidFill>
              <a:srgbClr val="E078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645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" y="46177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보호된 API가 401 Unauthorized 응답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" y="4974336"/>
            <a:ext cx="237744" cy="237744"/>
          </a:xfrm>
          <a:prstGeom prst="ellipse">
            <a:avLst/>
          </a:prstGeom>
          <a:solidFill>
            <a:srgbClr val="FFE3D6"/>
          </a:solidFill>
          <a:ln w="9525">
            <a:solidFill>
              <a:srgbClr val="E0785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974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" y="494690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isRefreshing 플래그로 POST /api/auth/refresh 를 단 한 번만 호출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7240" y="5303520"/>
            <a:ext cx="237744" cy="237744"/>
          </a:xfrm>
          <a:prstGeom prst="ellipse">
            <a:avLst/>
          </a:prstGeom>
          <a:solidFill>
            <a:srgbClr val="FFE3D6"/>
          </a:solidFill>
          <a:ln w="9525">
            <a:solidFill>
              <a:srgbClr val="E078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303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" y="52760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갱신 중에 실패한 다른 요청은 failedQueue 에 대기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77240" y="5632704"/>
            <a:ext cx="237744" cy="237744"/>
          </a:xfrm>
          <a:prstGeom prst="ellipse">
            <a:avLst/>
          </a:prstGeom>
          <a:solidFill>
            <a:srgbClr val="FFE3D6"/>
          </a:solidFill>
          <a:ln w="9525">
            <a:solidFill>
              <a:srgbClr val="E078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5632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" y="56052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Access Token 으로 원래 요청 + 대기 요청을 일괄 재시도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77240" y="5961888"/>
            <a:ext cx="237744" cy="237744"/>
          </a:xfrm>
          <a:prstGeom prst="ellipse">
            <a:avLst/>
          </a:prstGeom>
          <a:solidFill>
            <a:srgbClr val="FFE3D6"/>
          </a:solidFill>
          <a:ln w="9525">
            <a:solidFill>
              <a:srgbClr val="E078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961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" y="593445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도 만료되면 clearAuth() → /login 이동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06640" y="4114800"/>
            <a:ext cx="4206240" cy="2240280"/>
          </a:xfrm>
          <a:prstGeom prst="roundRect">
            <a:avLst>
              <a:gd name="adj" fmla="val 4898"/>
            </a:avLst>
          </a:prstGeom>
          <a:solidFill>
            <a:srgbClr val="E5EFD7"/>
          </a:solidFill>
          <a:ln w="6350">
            <a:solidFill>
              <a:srgbClr val="88A8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인가 규칙 · SecurityConfig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635240" y="4617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A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permitAll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006840" y="46177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/api/auth/signup · login · refresh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/api/products/** · /uploads/**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35240" y="52395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A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hasRole(ADMIN)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006840" y="5239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/api/admin/**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35240" y="56052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A8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authenticated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006840" y="5605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외 모든 요청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35240" y="5943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세션 · 헤더 토큰 방식이라 CSRF 비활성화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· ORDER &amp; PAYMENT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주문 · 결제 시퀀스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재고는 주문 생성 시 비관적 락으로 선차감 → 결제 승인은 서버에서 금액 재검증 후 Toss에 요청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00200" y="2697480"/>
            <a:ext cx="0" cy="3657600"/>
          </a:xfrm>
          <a:prstGeom prst="line">
            <a:avLst/>
          </a:prstGeom>
          <a:noFill/>
          <a:ln w="15875">
            <a:solidFill>
              <a:srgbClr val="EDE4D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94360" y="219456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Payments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PG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2697480"/>
            <a:ext cx="0" cy="3657600"/>
          </a:xfrm>
          <a:prstGeom prst="line">
            <a:avLst/>
          </a:prstGeom>
          <a:noFill/>
          <a:ln w="15875">
            <a:solidFill>
              <a:srgbClr val="EDE4D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520440" y="219456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CheckoutPage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2697480"/>
            <a:ext cx="0" cy="3657600"/>
          </a:xfrm>
          <a:prstGeom prst="line">
            <a:avLst/>
          </a:prstGeom>
          <a:noFill/>
          <a:ln w="15875">
            <a:solidFill>
              <a:srgbClr val="EDE4D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537960" y="219456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2A1F1F"/>
          </a:solidFill>
          <a:ln w="6350">
            <a:solidFill>
              <a:srgbClr val="2A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· Payment 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469880" y="2697480"/>
            <a:ext cx="0" cy="3657600"/>
          </a:xfrm>
          <a:prstGeom prst="line">
            <a:avLst/>
          </a:prstGeom>
          <a:noFill/>
          <a:ln w="15875">
            <a:solidFill>
              <a:srgbClr val="EDE4D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464040" y="219456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88A876"/>
          </a:solidFill>
          <a:ln w="6350">
            <a:solidFill>
              <a:srgbClr val="88A8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orders · payment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017520"/>
            <a:ext cx="3017520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636008" y="2816352"/>
            <a:ext cx="279806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/api/orders — 주문 생성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43800" y="3291840"/>
            <a:ext cx="2926080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653528" y="3090672"/>
            <a:ext cx="270662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… FOR UPDATE (productId 오름차순)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43800" y="3566160"/>
            <a:ext cx="2926080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653528" y="3364992"/>
            <a:ext cx="270662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재고 차감 · INSERT orders / order_item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 flipH="1">
            <a:off x="4526280" y="3840480"/>
            <a:ext cx="301752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dash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636008" y="3639312"/>
            <a:ext cx="279806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orderNumber · totalPrice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flipH="1">
            <a:off x="1600200" y="4114800"/>
            <a:ext cx="2926080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709928" y="3913632"/>
            <a:ext cx="270662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requestPayment() — 결제창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00200" y="4389120"/>
            <a:ext cx="292608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709928" y="4187952"/>
            <a:ext cx="270662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successUrl (paymentKey · orderId · amount)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26280" y="4663440"/>
            <a:ext cx="3017520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4636008" y="4462272"/>
            <a:ext cx="279806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POST /api/payments/confirm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4754880"/>
            <a:ext cx="2834640" cy="237744"/>
          </a:xfrm>
          <a:prstGeom prst="roundRect">
            <a:avLst>
              <a:gd name="adj" fmla="val 19231"/>
            </a:avLst>
          </a:prstGeom>
          <a:solidFill>
            <a:srgbClr val="FFE3D6"/>
          </a:solidFill>
          <a:ln w="9525">
            <a:solidFill>
              <a:srgbClr val="E078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47548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중복 결제 · 본인 주문 · 금액 일치 검증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H="1">
            <a:off x="1600200" y="5212080"/>
            <a:ext cx="5943600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709928" y="5010912"/>
            <a:ext cx="572414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POST /v1/payments/confirm — 서버 승인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00200" y="5486400"/>
            <a:ext cx="594360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dash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709928" y="5285232"/>
            <a:ext cx="572414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승인 결과 (method · approvedAt)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43800" y="5760720"/>
            <a:ext cx="2926080" cy="0"/>
          </a:xfrm>
          <a:prstGeom prst="line">
            <a:avLst/>
          </a:prstGeom>
          <a:noFill/>
          <a:ln w="19050">
            <a:solidFill>
              <a:srgbClr val="E07856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653528" y="5559552"/>
            <a:ext cx="270662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INSERT payment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 flipH="1">
            <a:off x="4526280" y="6035040"/>
            <a:ext cx="3017520" cy="0"/>
          </a:xfrm>
          <a:prstGeom prst="line">
            <a:avLst/>
          </a:prstGeom>
          <a:noFill/>
          <a:ln w="12700">
            <a:solidFill>
              <a:srgbClr val="6B5757"/>
            </a:solidFill>
            <a:prstDash val="dash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636008" y="5833872"/>
            <a:ext cx="2798064" cy="182880"/>
          </a:xfrm>
          <a:prstGeom prst="rect">
            <a:avLst/>
          </a:prstGeom>
          <a:solidFill>
            <a:srgbClr val="FBF7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결제 완료 → /orders/complete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보안 · 품질 · 안정성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포트폴리오가 아닌 실서비스 수준의 방어 적용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Role-based Authz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SecurityConfig에 /api/admin/** → hasRole(ADMIN)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AdminRoute로 이중 가드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9392" y="246888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7992" y="274320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48072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암호화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07992" y="3337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BCrypt(strength 10) · 솔트 자동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응답에 password 필드 절대 미포함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10144" y="246888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8744" y="274320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78824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방어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38744" y="3337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(React 자동 escape · DOMPurify)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(JPA 파라미터 바인딩)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(SameSite + JWT 헤더)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제어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5349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시 비관적 락(SELECT FOR UPDATE)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오름차순 락 획득 → 데드락 회피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수정은 @Version 낙관적 락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79392" y="44805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7992" y="475488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7992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48072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 처리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07992" y="5349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 통합 핸들러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상태 + 에러 코드 일관 응답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axios 인터셉터로 자동 토스트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10144" y="44805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38744" y="4754880"/>
            <a:ext cx="457200" cy="457200"/>
          </a:xfrm>
          <a:prstGeom prst="ellipse">
            <a:avLst/>
          </a:prstGeom>
          <a:solidFill>
            <a:srgbClr val="E5EFD7"/>
          </a:solidFill>
          <a:ln w="19050">
            <a:solidFill>
              <a:srgbClr val="88A8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38744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878824" y="4754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38744" y="5349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Validation (@Valid)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단계에서 차단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 zod-style 폼 가드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디자인 시스템 — Pet Friendly Soft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정체성 + 한국 사용자 친화 + 2026 트렌드 균형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E0785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#E07856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2953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· 강조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FBF7F1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 Cream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3721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#FBF7F1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88A87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Green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4361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#88A876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4233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 · 친환경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1F191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Black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5001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#1F1916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0" y="4873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· 헤더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914400" cy="548640"/>
          </a:xfrm>
          <a:prstGeom prst="roundRect">
            <a:avLst>
              <a:gd name="adj" fmla="val 13333"/>
            </a:avLst>
          </a:prstGeom>
          <a:solidFill>
            <a:srgbClr val="D4A24A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5394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 Gold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5641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#D4A24A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5513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 · 배지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468880"/>
            <a:ext cx="56692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606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04495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044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퍼스트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37960" y="3218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→ 768 → 1920 순서로 break point. 한국 모바일 트래픽 70%+ 대응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63931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6393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379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Hero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37960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메인 + 작은 보조 카드 — 2026 e-commerce 트렌드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423367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4233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3796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토큰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37960" y="44074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properties. .dark 모드 자동 대응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482803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48280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3796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마이크로 인터랙션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37960" y="5001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hover-lift, 펄스 링, 호버 스케일 — 살아있는 느낌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5422392"/>
            <a:ext cx="228600" cy="22860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5422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3796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접근성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537960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aria-label · WCAG AA 명도 대비 4.5:1+ · prefers-reduced-motion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개발 프로세스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 가이드 적용 + 단계별 commit 진화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가정 표면화 · 모호함 명시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외 기능 X · 추상 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Changes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인접 코드 안 건드림 · 사전 dead code mention만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15400" y="24688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078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9264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가능한 성공 기준 정의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0972800" cy="18288"/>
          </a:xfrm>
          <a:prstGeom prst="rect">
            <a:avLst/>
          </a:prstGeom>
          <a:solidFill>
            <a:srgbClr val="EDE4D6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React 19 기반 리뉴얼 초기 구성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보안·예외처리·동시성 방어 강화 + MockMvc 통합테스트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2356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전체 기능 구현 완료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63840" y="52120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04.27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9516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동시성 제어 + OrderService 통합테스트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04120" y="5212080"/>
            <a:ext cx="274320" cy="274320"/>
          </a:xfrm>
          <a:prstGeom prst="ellipse">
            <a:avLst/>
          </a:prstGeom>
          <a:solidFill>
            <a:srgbClr val="E07856"/>
          </a:solidFill>
          <a:ln w="25400">
            <a:solidFill>
              <a:srgbClr val="E078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0" y="4754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05.04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35440" y="5623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Friendly 디자인 + admin 권한·대시보드 개편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규모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보는 Pawmart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24+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18 + 관리자 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246888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26974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507992" y="3611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7992" y="3931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가능한 UI 단위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10144" y="246888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26974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238744" y="3611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모듈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38744" y="3931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frontend/src/api/*.ts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09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777240" y="56235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마이그레이션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943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자동 적용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79392" y="44805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4709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3,176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4507992" y="56235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라인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07992" y="5943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디자인 개편 (+5%)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10144" y="44805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8744" y="4709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6000" dirty="0"/>
          </a:p>
        </p:txBody>
      </p:sp>
      <p:sp>
        <p:nvSpPr>
          <p:cNvPr id="31" name="Text 29"/>
          <p:cNvSpPr/>
          <p:nvPr/>
        </p:nvSpPr>
        <p:spPr>
          <a:xfrm>
            <a:off x="8238744" y="56235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38744" y="5943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Member·Product·Order·Cart·Pet…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R&amp;D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디자인 시안 — 4종 비교 후 결정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가지 안을 단번에 만들지 않고, 4개 컨셉을 만들어 검증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679192" cy="384048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800" dirty="0"/>
          </a:p>
        </p:txBody>
      </p:sp>
      <p:pic>
        <p:nvPicPr>
          <p:cNvPr id="11" name="Image 0" descr="시안 A — Minimal Editorial 홈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49040"/>
            <a:ext cx="2130552" cy="13315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3749040"/>
            <a:ext cx="2130552" cy="1331595"/>
          </a:xfrm>
          <a:prstGeom prst="rect">
            <a:avLst/>
          </a:prstGeom>
          <a:ln w="12700">
            <a:solidFill>
              <a:srgbClr val="EDE4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257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Editorial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566928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흑백 + 1 accent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무신사 / 29CM 톤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46704" y="2468880"/>
            <a:ext cx="2679192" cy="3840480"/>
          </a:xfrm>
          <a:prstGeom prst="roundRect">
            <a:avLst>
              <a:gd name="adj" fmla="val 4096"/>
            </a:avLst>
          </a:prstGeom>
          <a:solidFill>
            <a:srgbClr val="FAF6EE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21024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5B40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800" dirty="0"/>
          </a:p>
        </p:txBody>
      </p:sp>
      <p:pic>
        <p:nvPicPr>
          <p:cNvPr id="17" name="Image 1" descr="시안 B — Warm Marketplace 홈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3749040"/>
            <a:ext cx="2130552" cy="133159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21024" y="3749040"/>
            <a:ext cx="2130552" cy="1331595"/>
          </a:xfrm>
          <a:prstGeom prst="rect">
            <a:avLst/>
          </a:prstGeom>
          <a:ln w="12700">
            <a:solidFill>
              <a:srgbClr val="EDE4D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21024" y="5257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0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Marketplace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21024" y="566928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크림+brown+sage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마켓컬리 / Chewy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44768" y="2468880"/>
            <a:ext cx="2679192" cy="3840480"/>
          </a:xfrm>
          <a:prstGeom prst="roundRect">
            <a:avLst>
              <a:gd name="adj" fmla="val 4096"/>
            </a:avLst>
          </a:prstGeom>
          <a:solidFill>
            <a:srgbClr val="FFE3D6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19088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3D2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800" dirty="0"/>
          </a:p>
        </p:txBody>
      </p:sp>
      <p:pic>
        <p:nvPicPr>
          <p:cNvPr id="23" name="Image 2" descr="시안 C — Playful Pet 홈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749040"/>
            <a:ext cx="2130552" cy="13315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419088" y="3749040"/>
            <a:ext cx="2130552" cy="1331595"/>
          </a:xfrm>
          <a:prstGeom prst="rect">
            <a:avLst/>
          </a:prstGeom>
          <a:ln w="12700">
            <a:solidFill>
              <a:srgbClr val="EDE4D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19088" y="5257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 Pet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19088" y="566928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파스텔, 둥근 카드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Petsmart 풍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942832" y="2468880"/>
            <a:ext cx="2679192" cy="3840480"/>
          </a:xfrm>
          <a:prstGeom prst="roundRect">
            <a:avLst>
              <a:gd name="adj" fmla="val 4096"/>
            </a:avLst>
          </a:prstGeom>
          <a:solidFill>
            <a:srgbClr val="E07856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661904" y="26517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0661904" y="26517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9217152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4800" dirty="0"/>
          </a:p>
        </p:txBody>
      </p:sp>
      <p:pic>
        <p:nvPicPr>
          <p:cNvPr id="31" name="Image 3" descr="시안 D — Modern Korean Pet 홈 화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3749040"/>
            <a:ext cx="2130552" cy="133159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217152" y="3749040"/>
            <a:ext cx="2130552" cy="1331595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217152" y="525780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Korean Pet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9217152" y="5669280"/>
            <a:ext cx="2130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B+C 하이브리드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— 포트폴리오 + 한국 사용자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하이라이트 화면 3선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 / 상품 상세 / 관리자 대시보드 — 디자인 일관성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3611880" cy="73152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3154680" cy="2286000"/>
          </a:xfrm>
          <a:prstGeom prst="roundRect">
            <a:avLst>
              <a:gd name="adj" fmla="val 2000"/>
            </a:avLst>
          </a:prstGeom>
          <a:solidFill>
            <a:srgbClr val="FBF7F1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520440"/>
            <a:ext cx="2880360" cy="16459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794760"/>
            <a:ext cx="1673352" cy="914400"/>
          </a:xfrm>
          <a:prstGeom prst="rect">
            <a:avLst/>
          </a:prstGeom>
          <a:solidFill>
            <a:srgbClr val="FFE3D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9192" y="3794760"/>
            <a:ext cx="1069848" cy="41148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9192" y="4297680"/>
            <a:ext cx="1069848" cy="4114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846320"/>
            <a:ext cx="651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11630" y="4846320"/>
            <a:ext cx="651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08860" y="4846320"/>
            <a:ext cx="651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6090" y="4846320"/>
            <a:ext cx="65151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7150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Hero + 카테고리 + 맞춤추천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베스트 + 정기배송 + 케어가이드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79392" y="24688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2468880"/>
            <a:ext cx="3611880" cy="73152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07992" y="3383280"/>
            <a:ext cx="3154680" cy="2286000"/>
          </a:xfrm>
          <a:prstGeom prst="roundRect">
            <a:avLst>
              <a:gd name="adj" fmla="val 2000"/>
            </a:avLst>
          </a:prstGeom>
          <a:solidFill>
            <a:srgbClr val="FBF7F1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3520440"/>
            <a:ext cx="2880360" cy="164592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3794760"/>
            <a:ext cx="1394460" cy="1371600"/>
          </a:xfrm>
          <a:prstGeom prst="rect">
            <a:avLst/>
          </a:prstGeom>
          <a:solidFill>
            <a:srgbClr val="E5EFD7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31052" y="3794760"/>
            <a:ext cx="1303020" cy="228600"/>
          </a:xfrm>
          <a:prstGeom prst="rect">
            <a:avLst/>
          </a:prstGeom>
          <a:solidFill>
            <a:srgbClr val="1F1916"/>
          </a:solidFill>
          <a:ln w="12700">
            <a:solidFill>
              <a:srgbClr val="1F19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31052" y="4114800"/>
            <a:ext cx="1303020" cy="164592"/>
          </a:xfrm>
          <a:prstGeom prst="rect">
            <a:avLst/>
          </a:prstGeom>
          <a:solidFill>
            <a:srgbClr val="6B5757"/>
          </a:solidFill>
          <a:ln w="12700">
            <a:solidFill>
              <a:srgbClr val="6B57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31052" y="4846320"/>
            <a:ext cx="1303020" cy="32004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45152" y="5257800"/>
            <a:ext cx="88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4792" y="5257800"/>
            <a:ext cx="88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04432" y="5257800"/>
            <a:ext cx="88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07992" y="57150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갤러리 + 효능 배지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리뷰 + 관련상품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10144" y="24688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10144" y="2468880"/>
            <a:ext cx="3611880" cy="731520"/>
          </a:xfrm>
          <a:prstGeom prst="rect">
            <a:avLst/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38744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238744" y="3383280"/>
            <a:ext cx="3154680" cy="2286000"/>
          </a:xfrm>
          <a:prstGeom prst="roundRect">
            <a:avLst>
              <a:gd name="adj" fmla="val 2000"/>
            </a:avLst>
          </a:prstGeom>
          <a:solidFill>
            <a:srgbClr val="FBF7F1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75904" y="3520440"/>
            <a:ext cx="2880360" cy="164592"/>
          </a:xfrm>
          <a:prstGeom prst="rect">
            <a:avLst/>
          </a:prstGeom>
          <a:solidFill>
            <a:srgbClr val="2A1F1F"/>
          </a:solidFill>
          <a:ln w="12700">
            <a:solidFill>
              <a:srgbClr val="2A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75904" y="3794760"/>
            <a:ext cx="65151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73134" y="3794760"/>
            <a:ext cx="65151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70364" y="3794760"/>
            <a:ext cx="65151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67594" y="3794760"/>
            <a:ext cx="65151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4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75904" y="4480560"/>
            <a:ext cx="1533906" cy="164592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09810" y="4480560"/>
            <a:ext cx="697230" cy="164592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07040" y="4480560"/>
            <a:ext cx="557784" cy="164592"/>
          </a:xfrm>
          <a:prstGeom prst="rect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75904" y="4800600"/>
            <a:ext cx="278892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75904" y="4983480"/>
            <a:ext cx="2788920" cy="137160"/>
          </a:xfrm>
          <a:prstGeom prst="rect">
            <a:avLst/>
          </a:prstGeom>
          <a:solidFill>
            <a:srgbClr val="FBF7F1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75904" y="5166360"/>
            <a:ext cx="2788920" cy="137160"/>
          </a:xfrm>
          <a:prstGeom prst="rect">
            <a:avLst/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75904" y="5349240"/>
            <a:ext cx="2788920" cy="137160"/>
          </a:xfrm>
          <a:prstGeom prst="rect">
            <a:avLst/>
          </a:prstGeom>
          <a:solidFill>
            <a:srgbClr val="FBF7F1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38744" y="57150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4종 + 주문 상태 분포 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최근주문 + 빠른액션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583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583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 · seok2@pawmart.kr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향후 로드맵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v1. 다음 단계도 명확하게 정의돼 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45720" cy="402336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· Q2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단기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931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매출 추이 차트 (recharts)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57200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테스트 (Playwright)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029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 이모지 정리 + 디자인 토큰 일관성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669280"/>
            <a:ext cx="137160" cy="13716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577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권한 거부 토스트 안내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79392" y="24688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2468880"/>
            <a:ext cx="45720" cy="4023360"/>
          </a:xfrm>
          <a:prstGeom prst="rect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07992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· Q3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07992" y="3246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중기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4553712" y="402336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31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자동화 (백엔드+DB+Adminer)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53712" y="457200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다양화 (네이버페이 · 카카오페이)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53712" y="512064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5029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품절 임박 자동 알림 (관리자)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53712" y="5669280"/>
            <a:ext cx="137160" cy="137160"/>
          </a:xfrm>
          <a:prstGeom prst="ellipse">
            <a:avLst/>
          </a:prstGeom>
          <a:solidFill>
            <a:srgbClr val="88A876"/>
          </a:solidFill>
          <a:ln w="12700">
            <a:solidFill>
              <a:srgbClr val="88A8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5577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자동 모더레이션 (욕설 필터)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10144" y="24688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6350">
            <a:solidFill>
              <a:srgbClr val="EDE4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10144" y="2468880"/>
            <a:ext cx="45720" cy="4023360"/>
          </a:xfrm>
          <a:prstGeom prst="rect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38744" y="269748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38744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· Q4+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38744" y="3246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장기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8284464" y="402336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13064" y="3931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상품 추천 고도화 (행동 데이터 기반)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84464" y="457200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13064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앱 (React Native 또는 Flutter)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84464" y="512064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13064" y="5029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정기배송 데이터 분석 대시보드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84464" y="5669280"/>
            <a:ext cx="137160" cy="137160"/>
          </a:xfrm>
          <a:prstGeom prst="ellipse">
            <a:avLst/>
          </a:prstGeom>
          <a:solidFill>
            <a:srgbClr val="D4A24A"/>
          </a:solidFill>
          <a:ln w="12700">
            <a:solidFill>
              <a:srgbClr val="D4A2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13064" y="5577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채널 (펫샵 · 동물병원)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9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· THANK YOU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329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만들어 갈 수 있는 기회가 되길 바라며.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서인석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176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76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seok2@pawmart.kr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465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budurang22.github.io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7542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포지션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75420" y="5074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DevOps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PAWMART · PORTFOLIO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6400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with React 19, Spring Boot 4 — and care.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Pawmart Portfolio</dc:title>
  <dc:subject>프리미엄 펫 e-commerce 포트폴리오</dc:subject>
  <dc:creator>서인석</dc:creator>
  <cp:lastModifiedBy>서인석</cp:lastModifiedBy>
  <cp:revision>1</cp:revision>
  <dcterms:created xsi:type="dcterms:W3CDTF">2026-10-02T05:19:57Z</dcterms:created>
  <dcterms:modified xsi:type="dcterms:W3CDTF">2026-10-02T05:19:57Z</dcterms:modified>
</cp:coreProperties>
</file>